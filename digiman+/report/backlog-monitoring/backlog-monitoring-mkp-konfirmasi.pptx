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87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kky Rizki Rohayat" userId="9d9a05a0-e582-4dae-9238-169b9fd6a422" providerId="ADAL" clId="{046BADF5-D65F-4D17-BFD5-7D8CFC54B464}"/>
    <pc:docChg chg="delSld modSld">
      <pc:chgData name="Okky Rizki Rohayat" userId="9d9a05a0-e582-4dae-9238-169b9fd6a422" providerId="ADAL" clId="{046BADF5-D65F-4D17-BFD5-7D8CFC54B464}" dt="2026-06-15T04:04:53.288" v="1" actId="20577"/>
      <pc:docMkLst>
        <pc:docMk/>
      </pc:docMkLst>
      <pc:sldChg chg="modSp mod">
        <pc:chgData name="Okky Rizki Rohayat" userId="9d9a05a0-e582-4dae-9238-169b9fd6a422" providerId="ADAL" clId="{046BADF5-D65F-4D17-BFD5-7D8CFC54B464}" dt="2026-06-15T04:04:53.288" v="1" actId="20577"/>
        <pc:sldMkLst>
          <pc:docMk/>
          <pc:sldMk cId="0" sldId="256"/>
        </pc:sldMkLst>
        <pc:spChg chg="mod">
          <ac:chgData name="Okky Rizki Rohayat" userId="9d9a05a0-e582-4dae-9238-169b9fd6a422" providerId="ADAL" clId="{046BADF5-D65F-4D17-BFD5-7D8CFC54B464}" dt="2026-06-15T04:04:53.288" v="1" actId="20577"/>
          <ac:spMkLst>
            <pc:docMk/>
            <pc:sldMk cId="0" sldId="256"/>
            <ac:spMk id="2" creationId="{00000000-0000-0000-0000-000000000000}"/>
          </ac:spMkLst>
        </pc:spChg>
      </pc:sldChg>
      <pc:sldChg chg="del">
        <pc:chgData name="Okky Rizki Rohayat" userId="9d9a05a0-e582-4dae-9238-169b9fd6a422" providerId="ADAL" clId="{046BADF5-D65F-4D17-BFD5-7D8CFC54B464}" dt="2026-06-15T04:04:46.150" v="0" actId="2696"/>
        <pc:sldMkLst>
          <pc:docMk/>
          <pc:sldMk cId="0" sldId="26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377440"/>
            <a:ext cx="10332720" cy="1164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dirty="0">
                <a:solidFill>
                  <a:srgbClr val="6B8F6E"/>
                </a:solidFill>
              </a:rPr>
              <a:t>Hal-Hal yang </a:t>
            </a:r>
            <a:r>
              <a:rPr sz="4000" b="1" dirty="0" err="1">
                <a:solidFill>
                  <a:srgbClr val="6B8F6E"/>
                </a:solidFill>
              </a:rPr>
              <a:t>Perlu</a:t>
            </a:r>
            <a:r>
              <a:rPr sz="4000" b="1" dirty="0">
                <a:solidFill>
                  <a:srgbClr val="6B8F6E"/>
                </a:solidFill>
              </a:rPr>
              <a:t> </a:t>
            </a:r>
            <a:r>
              <a:rPr sz="4000" b="1" dirty="0" err="1">
                <a:solidFill>
                  <a:srgbClr val="6B8F6E"/>
                </a:solidFill>
              </a:rPr>
              <a:t>Dikonfirmasi</a:t>
            </a:r>
            <a:r>
              <a:rPr sz="4000" b="1" dirty="0">
                <a:solidFill>
                  <a:srgbClr val="6B8F6E"/>
                </a:solidFill>
              </a:rPr>
              <a:t> </a:t>
            </a:r>
            <a:r>
              <a:rPr sz="4000" b="1" dirty="0" err="1">
                <a:solidFill>
                  <a:srgbClr val="6B8F6E"/>
                </a:solidFill>
              </a:rPr>
              <a:t>ke</a:t>
            </a:r>
            <a:r>
              <a:rPr sz="4000" b="1" dirty="0">
                <a:solidFill>
                  <a:srgbClr val="6B8F6E"/>
                </a:solidFill>
              </a:rPr>
              <a:t> Tim MKP</a:t>
            </a:r>
          </a:p>
          <a:p>
            <a:pPr>
              <a:spcBef>
                <a:spcPts val="1400"/>
              </a:spcBef>
            </a:pPr>
            <a:r>
              <a:rPr sz="1800" dirty="0">
                <a:solidFill>
                  <a:srgbClr val="555555"/>
                </a:solidFill>
              </a:rPr>
              <a:t>Backlog Monitoring Dashboard — </a:t>
            </a:r>
            <a:r>
              <a:rPr sz="1800" dirty="0" err="1">
                <a:solidFill>
                  <a:srgbClr val="555555"/>
                </a:solidFill>
              </a:rPr>
              <a:t>Adaptasi</a:t>
            </a:r>
            <a:r>
              <a:rPr sz="1800" dirty="0">
                <a:solidFill>
                  <a:srgbClr val="555555"/>
                </a:solidFill>
              </a:rPr>
              <a:t> SP </a:t>
            </a:r>
            <a:r>
              <a:rPr sz="1800" dirty="0" err="1">
                <a:solidFill>
                  <a:srgbClr val="555555"/>
                </a:solidFill>
              </a:rPr>
              <a:t>usp_iams_backlog_monitoring</a:t>
            </a:r>
            <a:r>
              <a:rPr sz="1800" dirty="0">
                <a:solidFill>
                  <a:srgbClr val="555555"/>
                </a:solidFill>
              </a:rPr>
              <a:t> </a:t>
            </a:r>
            <a:r>
              <a:rPr sz="1800" dirty="0" err="1">
                <a:solidFill>
                  <a:srgbClr val="555555"/>
                </a:solidFill>
              </a:rPr>
              <a:t>untuk</a:t>
            </a:r>
            <a:r>
              <a:rPr sz="1800" dirty="0">
                <a:solidFill>
                  <a:srgbClr val="555555"/>
                </a:solidFill>
              </a:rPr>
              <a:t> </a:t>
            </a:r>
            <a:r>
              <a:rPr sz="1800">
                <a:solidFill>
                  <a:srgbClr val="555555"/>
                </a:solidFill>
              </a:rPr>
              <a:t>Tenant MKP</a:t>
            </a:r>
            <a:endParaRPr sz="1800" dirty="0">
              <a:solidFill>
                <a:srgbClr val="555555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2240280"/>
            <a:ext cx="3657600" cy="50800"/>
          </a:xfrm>
          <a:prstGeom prst="rect">
            <a:avLst/>
          </a:prstGeom>
          <a:solidFill>
            <a:srgbClr val="6B8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6B8F6E"/>
                </a:solidFill>
              </a:rPr>
              <a:t>Ringkasan Area yang Membutuhkan Konfirmasi MKP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31750"/>
          </a:xfrm>
          <a:prstGeom prst="rect">
            <a:avLst/>
          </a:prstGeom>
          <a:solidFill>
            <a:srgbClr val="6B8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2000">
                <a:solidFill>
                  <a:srgbClr val="1A1A1A"/>
                </a:solidFill>
              </a:rPr>
              <a:t>1. dim_date — konvensi kalender (first day of week &amp; tanggal awal generate)</a:t>
            </a:r>
          </a:p>
          <a:p>
            <a:pPr>
              <a:spcBef>
                <a:spcPts val="1400"/>
              </a:spcBef>
            </a:pPr>
            <a:r>
              <a:rPr sz="2000">
                <a:solidFill>
                  <a:srgbClr val="1A1A1A"/>
                </a:solidFill>
              </a:rPr>
              <a:t>2. Filter business logic SP — scope data backlog, tipe MO &amp; PM activity type</a:t>
            </a:r>
          </a:p>
          <a:p>
            <a:pPr>
              <a:spcBef>
                <a:spcPts val="1400"/>
              </a:spcBef>
            </a:pPr>
            <a:r>
              <a:rPr sz="2000">
                <a:solidFill>
                  <a:srgbClr val="1A1A1A"/>
                </a:solidFill>
              </a:rPr>
              <a:t>3. Mapping SAP user status — kode status &amp; definisi step</a:t>
            </a:r>
          </a:p>
          <a:p>
            <a:pPr>
              <a:spcBef>
                <a:spcPts val="1400"/>
              </a:spcBef>
            </a:pPr>
            <a:r>
              <a:rPr sz="2000">
                <a:solidFill>
                  <a:srgbClr val="1A1A1A"/>
                </a:solidFill>
              </a:rPr>
              <a:t>4. config_image.csv — gambar/foto referensi section/unit</a:t>
            </a:r>
          </a:p>
          <a:p>
            <a:pPr>
              <a:spcBef>
                <a:spcPts val="1400"/>
              </a:spcBef>
            </a:pPr>
            <a:r>
              <a:rPr sz="2000">
                <a:solidFill>
                  <a:srgbClr val="1A1A1A"/>
                </a:solidFill>
              </a:rPr>
              <a:t>5. aging_category.csv — threshold aging &amp; priority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55"/>
                </a:solidFill>
              </a:rPr>
              <a:t>1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6B8F6E"/>
                </a:solidFill>
              </a:rPr>
              <a:t>1. dim_date — Konvensi Kalender</a:t>
            </a:r>
          </a:p>
          <a:p>
            <a:r>
              <a:rPr sz="1400">
                <a:solidFill>
                  <a:srgbClr val="555555"/>
                </a:solidFill>
              </a:rPr>
              <a:t>Pipeline generate dim_date parquet baru untuk MKP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31750"/>
          </a:xfrm>
          <a:prstGeom prst="rect">
            <a:avLst/>
          </a:prstGeom>
          <a:solidFill>
            <a:srgbClr val="6B8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1887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555555"/>
                </a:solidFill>
              </a:rPr>
              <a:t>Fungsi dim_date: tabel dimensi tanggal yang dipakai SP &amp; PBI untuk join dan agregasi berdasarkan waktu (date_id, week_id, year, month_id) — dasar untuk menghitung tren backlog per minggu/bulan/tahun di dashboard.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50800" cy="960120"/>
          </a:xfrm>
          <a:prstGeom prst="rect">
            <a:avLst/>
          </a:prstGeom>
          <a:solidFill>
            <a:srgbClr val="6B8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892808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</a:rPr>
              <a:t>Perlu dikonfirmasi: </a:t>
            </a:r>
            <a:r>
              <a:rPr sz="1500">
                <a:solidFill>
                  <a:srgbClr val="1A1A1A"/>
                </a:solidFill>
              </a:rPr>
              <a:t>Konvensi hari pertama minggu (parameter @first_day_of_week) — mis. Senin, Kamis, atau Sabtu seperti BUMA ID.</a:t>
            </a:r>
          </a:p>
          <a:p>
            <a:pPr>
              <a:spcBef>
                <a:spcPts val="400"/>
              </a:spcBef>
            </a:pPr>
            <a:r>
              <a:rPr sz="1300" b="1" i="1">
                <a:solidFill>
                  <a:srgbClr val="6B8F6E"/>
                </a:solidFill>
              </a:rPr>
              <a:t>Kenapa dibutuhkan: </a:t>
            </a:r>
            <a:r>
              <a:rPr sz="1300" i="1">
                <a:solidFill>
                  <a:srgbClr val="555555"/>
                </a:solidFill>
              </a:rPr>
              <a:t>Kolom week_id (format YYYYWW) dihitung berdasarkan hari pertama minggu ini. Kalau konvensinya beda dengan kalender internal MKP, nomor minggu yang tampil di dashboard tidak akan konsisten dengan kalender kerja mereka.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91840"/>
            <a:ext cx="50800" cy="960120"/>
          </a:xfrm>
          <a:prstGeom prst="rect">
            <a:avLst/>
          </a:prstGeom>
          <a:solidFill>
            <a:srgbClr val="6B8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3264408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</a:rPr>
              <a:t>Perlu dikonfirmasi: </a:t>
            </a:r>
            <a:r>
              <a:rPr sz="1500">
                <a:solidFill>
                  <a:srgbClr val="1A1A1A"/>
                </a:solidFill>
              </a:rPr>
              <a:t>Tanggal awal data dim_date mulai di-generate (parameter @first_date_of_date_generation). Di BUMA ID sebelumnya hardcode '2020-01-01'.</a:t>
            </a:r>
          </a:p>
          <a:p>
            <a:pPr>
              <a:spcBef>
                <a:spcPts val="400"/>
              </a:spcBef>
            </a:pPr>
            <a:r>
              <a:rPr sz="1300" b="1" i="1">
                <a:solidFill>
                  <a:srgbClr val="6B8F6E"/>
                </a:solidFill>
              </a:rPr>
              <a:t>Kenapa dibutuhkan: </a:t>
            </a:r>
            <a:r>
              <a:rPr sz="1300" i="1">
                <a:solidFill>
                  <a:srgbClr val="555555"/>
                </a:solidFill>
              </a:rPr>
              <a:t>Menentukan rentang tanggal yang tersedia untuk join. Kalau rentangnya tidak mencakup data backlog historis MKP, baris-baris data tersebut tidak akan punya tanggal pasangan dan bisa hilang dari laporan.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55"/>
                </a:solidFill>
              </a:rPr>
              <a:t>2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6B8F6E"/>
                </a:solidFill>
              </a:rPr>
              <a:t>2. Filter Business Logic SP — Scope Data Backlog</a:t>
            </a:r>
          </a:p>
          <a:p>
            <a:r>
              <a:rPr sz="1400">
                <a:solidFill>
                  <a:srgbClr val="555555"/>
                </a:solidFill>
              </a:rPr>
              <a:t>Parameterisasi filter yang sebelumnya hardcode untuk BUMA ID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31750"/>
          </a:xfrm>
          <a:prstGeom prst="rect">
            <a:avLst/>
          </a:prstGeom>
          <a:solidFill>
            <a:srgbClr val="6B8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50800" cy="960120"/>
          </a:xfrm>
          <a:prstGeom prst="rect">
            <a:avLst/>
          </a:prstGeom>
          <a:solidFill>
            <a:srgbClr val="6B8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89888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</a:rPr>
              <a:t>Perlu dikonfirmasi: </a:t>
            </a:r>
            <a:r>
              <a:rPr sz="1500">
                <a:solidFill>
                  <a:srgbClr val="1A1A1A"/>
                </a:solidFill>
              </a:rPr>
              <a:t>Apakah filter created_by (@moCreatedBy) dan tipe MO (@moType) di MKP hanya bernilai satu (single value, seperti 'DATACOM' &amp; 'MT01' di BUMA ID), atau ada beberapa nilai sekaligus.</a:t>
            </a:r>
          </a:p>
          <a:p>
            <a:pPr>
              <a:spcBef>
                <a:spcPts val="400"/>
              </a:spcBef>
            </a:pPr>
            <a:r>
              <a:rPr sz="1300" b="1" i="1">
                <a:solidFill>
                  <a:srgbClr val="6B8F6E"/>
                </a:solidFill>
              </a:rPr>
              <a:t>Kenapa dibutuhkan: </a:t>
            </a:r>
            <a:r>
              <a:rPr sz="1300" i="1">
                <a:solidFill>
                  <a:srgbClr val="555555"/>
                </a:solidFill>
              </a:rPr>
              <a:t>Di SP saat ini, kedua parameter ini didesain untuk single value. Jika MKP punya lebih dari satu nilai untuk masing-masing filter, SP perlu didesain ulang agar bisa menerima multi-value (mis. comma-separated atau table-valued parameter) — desain teknisnya belum diputuskan.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246120"/>
            <a:ext cx="50800" cy="960120"/>
          </a:xfrm>
          <a:prstGeom prst="rect">
            <a:avLst/>
          </a:prstGeom>
          <a:solidFill>
            <a:srgbClr val="6B8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3218688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</a:rPr>
              <a:t>Perlu dikonfirmasi: </a:t>
            </a:r>
            <a:r>
              <a:rPr sz="1500">
                <a:solidFill>
                  <a:srgbClr val="1A1A1A"/>
                </a:solidFill>
              </a:rPr>
              <a:t>Apakah seluruh data backlog MKP boleh ditampilkan tanpa filter created_by, atau hanya subset tertentu yang relevan.</a:t>
            </a:r>
          </a:p>
          <a:p>
            <a:pPr>
              <a:spcBef>
                <a:spcPts val="400"/>
              </a:spcBef>
            </a:pPr>
            <a:r>
              <a:rPr sz="1300" b="1" i="1">
                <a:solidFill>
                  <a:srgbClr val="6B8F6E"/>
                </a:solidFill>
              </a:rPr>
              <a:t>Kenapa dibutuhkan: </a:t>
            </a:r>
            <a:r>
              <a:rPr sz="1300" i="1">
                <a:solidFill>
                  <a:srgbClr val="555555"/>
                </a:solidFill>
              </a:rPr>
              <a:t>Berkaitan dengan volume data (performa query/laporan jika semua data ditarik) dan sensitivitas data (apakah semua MO layak ditampilkan di dashboard backlog atau ada yang perlu disaring).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074920"/>
            <a:ext cx="50800" cy="960120"/>
          </a:xfrm>
          <a:prstGeom prst="rect">
            <a:avLst/>
          </a:prstGeom>
          <a:solidFill>
            <a:srgbClr val="6B8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5047488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</a:rPr>
              <a:t>Perlu dikonfirmasi: </a:t>
            </a:r>
            <a:r>
              <a:rPr sz="1500">
                <a:solidFill>
                  <a:srgbClr val="1A1A1A"/>
                </a:solidFill>
              </a:rPr>
              <a:t>Nilai @replacementStatusLvl1 (PM Activity Type di SAP) untuk MKP. Di BUMA ID memakai 'BEX'; di MKP kemungkinan 'BKG', atau bisa jadi ada activity type lain yang juga relevan (multi-value).</a:t>
            </a:r>
          </a:p>
          <a:p>
            <a:pPr>
              <a:spcBef>
                <a:spcPts val="400"/>
              </a:spcBef>
            </a:pPr>
            <a:r>
              <a:rPr sz="1300" b="1" i="1">
                <a:solidFill>
                  <a:srgbClr val="6B8F6E"/>
                </a:solidFill>
              </a:rPr>
              <a:t>Kenapa dibutuhkan: </a:t>
            </a:r>
            <a:r>
              <a:rPr sz="1300" i="1">
                <a:solidFill>
                  <a:srgbClr val="555555"/>
                </a:solidFill>
              </a:rPr>
              <a:t>Parameter ini memfilter MO berdasarkan PM Activity Type sebelum dihitung sebagai backlog. Kalau activity type MKP berbeda atau lebih dari satu, filter ini perlu disesuaikan (termasuk kemungkinan multi-value) agar data backlog MKP tidak salah ter-filter.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55"/>
                </a:solidFill>
              </a:rPr>
              <a:t>3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6B8F6E"/>
                </a:solidFill>
              </a:rPr>
              <a:t>3. Mapping SAP User Status</a:t>
            </a:r>
          </a:p>
          <a:p>
            <a:r>
              <a:rPr sz="1400">
                <a:solidFill>
                  <a:srgbClr val="555555"/>
                </a:solidFill>
              </a:rPr>
              <a:t>Config mapping baru: config_mapping_sap_user_status.csv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31750"/>
          </a:xfrm>
          <a:prstGeom prst="rect">
            <a:avLst/>
          </a:prstGeom>
          <a:solidFill>
            <a:srgbClr val="6B8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50800" cy="960120"/>
          </a:xfrm>
          <a:prstGeom prst="rect">
            <a:avLst/>
          </a:prstGeom>
          <a:solidFill>
            <a:srgbClr val="6B8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89888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</a:rPr>
              <a:t>Perlu dikonfirmasi: </a:t>
            </a:r>
            <a:r>
              <a:rPr sz="1500">
                <a:solidFill>
                  <a:srgbClr val="1A1A1A"/>
                </a:solidFill>
              </a:rPr>
              <a:t>Nilai aktual SAP user status code di data MKP, dan definisi step status MO MKP — mana yang dianggap Closed, In Progress, Waiting Approval, dst (dikonfirmasi satu per satu).</a:t>
            </a:r>
          </a:p>
          <a:p>
            <a:pPr>
              <a:spcBef>
                <a:spcPts val="400"/>
              </a:spcBef>
            </a:pPr>
            <a:r>
              <a:rPr sz="1300" b="1" i="1">
                <a:solidFill>
                  <a:srgbClr val="6B8F6E"/>
                </a:solidFill>
              </a:rPr>
              <a:t>Kenapa dibutuhkan: </a:t>
            </a:r>
            <a:r>
              <a:rPr sz="1300" i="1">
                <a:solidFill>
                  <a:srgbClr val="555555"/>
                </a:solidFill>
              </a:rPr>
              <a:t>SP butuh mapping dari kode status SAP MKP ke kategori standar (status_category) untuk menghitung backlog per status. Kode status MKP pasti berbeda dari BUMA ID, dan standar MO SAP tidak punya workflow approval default — Waiting Approval adalah konfigurasi tambahan khusus BUMA ID — sehingga step status MKP perlu dikonfirmasi satu per satu.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4320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1A1A"/>
                </a:solidFill>
              </a:rPr>
              <a:t>Config yang dibutuhkan — config_mapping_sap_user_status.csv: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3200400"/>
          <a:ext cx="108813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0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sap_status (kode SAP — diisi dari data MKP)</a:t>
                      </a:r>
                    </a:p>
                  </a:txBody>
                  <a:tcPr>
                    <a:solidFill>
                      <a:srgbClr val="6B8F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status_category (standar Digiman+)</a:t>
                      </a:r>
                    </a:p>
                  </a:txBody>
                  <a:tcPr>
                    <a:solidFill>
                      <a:srgbClr val="6B8F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</a:rPr>
                        <a:t>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</a:rPr>
                        <a:t>closed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</a:rPr>
                        <a:t>?</a:t>
                      </a:r>
                    </a:p>
                  </a:txBody>
                  <a:tcPr>
                    <a:solidFill>
                      <a:srgbClr val="F3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</a:rPr>
                        <a:t>approved</a:t>
                      </a:r>
                    </a:p>
                  </a:txBody>
                  <a:tcPr>
                    <a:solidFill>
                      <a:srgbClr val="F3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</a:rPr>
                        <a:t>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</a:rPr>
                        <a:t>waiting_approval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</a:rPr>
                        <a:t>?</a:t>
                      </a:r>
                    </a:p>
                  </a:txBody>
                  <a:tcPr>
                    <a:solidFill>
                      <a:srgbClr val="F3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</a:rPr>
                        <a:t>waiting_planning</a:t>
                      </a:r>
                    </a:p>
                  </a:txBody>
                  <a:tcPr>
                    <a:solidFill>
                      <a:srgbClr val="F3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</a:rPr>
                        <a:t>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</a:rPr>
                        <a:t>waiting_part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01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</a:rPr>
                        <a:t>?</a:t>
                      </a:r>
                    </a:p>
                  </a:txBody>
                  <a:tcPr>
                    <a:solidFill>
                      <a:srgbClr val="F3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</a:rPr>
                        <a:t>waiting_execution</a:t>
                      </a:r>
                    </a:p>
                  </a:txBody>
                  <a:tcPr>
                    <a:solidFill>
                      <a:srgbClr val="F3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55"/>
                </a:solidFill>
              </a:rPr>
              <a:t>4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6B8F6E"/>
                </a:solidFill>
              </a:rPr>
              <a:t>4. config_image.csv — Gambar Referensi Section/Unit</a:t>
            </a:r>
          </a:p>
          <a:p>
            <a:r>
              <a:rPr sz="1400">
                <a:solidFill>
                  <a:srgbClr val="555555"/>
                </a:solidFill>
              </a:rPr>
              <a:t>Config baru, disimpan sebagai base64 (chunked)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31750"/>
          </a:xfrm>
          <a:prstGeom prst="rect">
            <a:avLst/>
          </a:prstGeom>
          <a:solidFill>
            <a:srgbClr val="6B8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50800" cy="11430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435608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</a:rPr>
              <a:t>Perlu dikonfirmasi: </a:t>
            </a:r>
            <a:r>
              <a:rPr sz="1500">
                <a:solidFill>
                  <a:srgbClr val="1A1A1A"/>
                </a:solidFill>
              </a:rPr>
              <a:t>Untuk site MKP: ada berapa section/unit yang perlu ditampilkan di dashboard, dan untuk masing-masing section tersebut gambar/foto referensi seperti apa yang diinginkan (foto unit aktual, diagram, ikon, dll).</a:t>
            </a:r>
          </a:p>
          <a:p>
            <a:pPr>
              <a:spcBef>
                <a:spcPts val="400"/>
              </a:spcBef>
            </a:pPr>
            <a:r>
              <a:rPr sz="1300" b="1" i="1">
                <a:solidFill>
                  <a:srgbClr val="6B8F6E"/>
                </a:solidFill>
              </a:rPr>
              <a:t>Kenapa dibutuhkan: </a:t>
            </a:r>
            <a:r>
              <a:rPr sz="1300" i="1">
                <a:solidFill>
                  <a:srgbClr val="555555"/>
                </a:solidFill>
              </a:rPr>
              <a:t>Daftar nama section sendiri sudah mengikuti standar internal Digiman+ (tidak perlu dikonfirmasi ke MKP). Namun config_image.csv menyimpan gambar referensi per section sebagai base64 — supaya config ini bisa dibuat untuk MKP, perlu tahu jumlah section/unit di site MKP dan bentuk gambar yang ingin ditampilkan untuk masing-masing.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55"/>
                </a:solidFill>
              </a:rPr>
              <a:t>5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6B8F6E"/>
                </a:solidFill>
              </a:rPr>
              <a:t>5. aging_category.csv — Threshold Aging &amp; Priority</a:t>
            </a:r>
          </a:p>
          <a:p>
            <a:r>
              <a:rPr sz="1400">
                <a:solidFill>
                  <a:srgbClr val="555555"/>
                </a:solidFill>
              </a:rPr>
              <a:t>Struktur CSV diperluas: tambah kolom min_days, max_days, priority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31750"/>
          </a:xfrm>
          <a:prstGeom prst="rect">
            <a:avLst/>
          </a:prstGeom>
          <a:solidFill>
            <a:srgbClr val="6B8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50800" cy="960120"/>
          </a:xfrm>
          <a:prstGeom prst="rect">
            <a:avLst/>
          </a:prstGeom>
          <a:solidFill>
            <a:srgbClr val="6B8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89888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1A"/>
                </a:solidFill>
              </a:rPr>
              <a:t>Perlu dikonfirmasi: </a:t>
            </a:r>
            <a:r>
              <a:rPr sz="1500">
                <a:solidFill>
                  <a:srgbClr val="1A1A1A"/>
                </a:solidFill>
              </a:rPr>
              <a:t>Threshold hari (min_days, max_days) per aging_category, dan mapping priority (P1/P2/P3) untuk masing-masing — apakah sama dengan konfigurasi BUMA ID di bawah, atau perlu disesuaikan dengan kebijakan/SLA MKP.</a:t>
            </a:r>
          </a:p>
          <a:p>
            <a:pPr>
              <a:spcBef>
                <a:spcPts val="400"/>
              </a:spcBef>
            </a:pPr>
            <a:r>
              <a:rPr sz="1300" b="1" i="1">
                <a:solidFill>
                  <a:srgbClr val="6B8F6E"/>
                </a:solidFill>
              </a:rPr>
              <a:t>Kenapa dibutuhkan: </a:t>
            </a:r>
            <a:r>
              <a:rPr sz="1300" i="1">
                <a:solidFill>
                  <a:srgbClr val="555555"/>
                </a:solidFill>
              </a:rPr>
              <a:t>aging_category menunjukkan seberapa lama backlog sudah open (menentukan urgensinya), dan priority dipakai untuk highlight/sorting di dashboard. Keduanya bersifat independen (priority tidak otomatis proporsional dari aging range) sehingga perlu eksplisit dikonfirmasi, bukan otomatis memakai default BUMA ID.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4320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1A1A"/>
                </a:solidFill>
              </a:rPr>
              <a:t>Konfigurasi saat ini (default BUMA ID) — aging_category.csv: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3200400"/>
          <a:ext cx="108813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6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6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62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762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>
                    <a:solidFill>
                      <a:srgbClr val="6B8F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aging_category</a:t>
                      </a:r>
                    </a:p>
                  </a:txBody>
                  <a:tcPr>
                    <a:solidFill>
                      <a:srgbClr val="6B8F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min_days</a:t>
                      </a:r>
                    </a:p>
                  </a:txBody>
                  <a:tcPr>
                    <a:solidFill>
                      <a:srgbClr val="6B8F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max_days</a:t>
                      </a:r>
                    </a:p>
                  </a:txBody>
                  <a:tcPr>
                    <a:solidFill>
                      <a:srgbClr val="6B8F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6B8F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</a:rPr>
                        <a:t>1-14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</a:rPr>
                        <a:t>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3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</a:rPr>
                        <a:t>15-45</a:t>
                      </a:r>
                    </a:p>
                  </a:txBody>
                  <a:tcPr>
                    <a:solidFill>
                      <a:srgbClr val="F3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3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F3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</a:rPr>
                        <a:t>P2</a:t>
                      </a:r>
                    </a:p>
                  </a:txBody>
                  <a:tcPr>
                    <a:solidFill>
                      <a:srgbClr val="F3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</a:rPr>
                        <a:t>&gt;45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</a:rPr>
                        <a:t>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</a:rPr>
                        <a:t>null (tidak ada batas atas)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</a:rPr>
                        <a:t>P3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55"/>
                </a:solidFill>
              </a:rPr>
              <a:t>6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1049</Words>
  <Application>Microsoft Office PowerPoint</Application>
  <PresentationFormat>Widescreen</PresentationFormat>
  <Paragraphs>77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Okky Rizki Rohayat</cp:lastModifiedBy>
  <cp:revision>1</cp:revision>
  <dcterms:created xsi:type="dcterms:W3CDTF">2013-01-27T09:14:16Z</dcterms:created>
  <dcterms:modified xsi:type="dcterms:W3CDTF">2026-06-15T04:04:55Z</dcterms:modified>
  <cp:category/>
</cp:coreProperties>
</file>